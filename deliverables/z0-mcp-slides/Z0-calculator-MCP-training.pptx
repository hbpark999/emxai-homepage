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5448" y="566928"/>
            <a:ext cx="91440" cy="7040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859536"/>
            <a:ext cx="11494008" cy="0"/>
          </a:xfrm>
          <a:prstGeom prst="line">
            <a:avLst/>
          </a:prstGeom>
          <a:noFill/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Z0 계산기의 입력과 출력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PCB 단면 조건을 입력하면 계산 엔진이 특성임피던스를 반환합니다.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1353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76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조건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1691640"/>
            <a:ext cx="2331720" cy="3584448"/>
          </a:xfrm>
          <a:prstGeom prst="roundRect">
            <a:avLst>
              <a:gd name="adj" fmla="val 4706"/>
            </a:avLst>
          </a:prstGeom>
          <a:solidFill>
            <a:srgbClr val="F4F8FD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947672"/>
            <a:ext cx="402336" cy="256032"/>
          </a:xfrm>
          <a:prstGeom prst="roundRect">
            <a:avLst>
              <a:gd name="adj" fmla="val 42857"/>
            </a:avLst>
          </a:prstGeom>
          <a:solidFill>
            <a:srgbClr val="1976F3"/>
          </a:solidFill>
          <a:ln w="12700">
            <a:solidFill>
              <a:srgbClr val="197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4767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53312" y="19293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폭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353312" y="21762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0.30 mm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9536" y="2697480"/>
            <a:ext cx="402336" cy="256032"/>
          </a:xfrm>
          <a:prstGeom prst="roundRect">
            <a:avLst>
              <a:gd name="adj" fmla="val 42857"/>
            </a:avLst>
          </a:prstGeom>
          <a:solidFill>
            <a:srgbClr val="1976F3"/>
          </a:solidFill>
          <a:ln w="12700">
            <a:solidFill>
              <a:srgbClr val="197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69748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53312" y="26791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유전체 두께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53312" y="29260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0.18 mm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9536" y="3447288"/>
            <a:ext cx="402336" cy="256032"/>
          </a:xfrm>
          <a:prstGeom prst="roundRect">
            <a:avLst>
              <a:gd name="adj" fmla="val 42857"/>
            </a:avLst>
          </a:prstGeom>
          <a:solidFill>
            <a:srgbClr val="1976F3"/>
          </a:solidFill>
          <a:ln w="12700">
            <a:solidFill>
              <a:srgbClr val="1976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44728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53312" y="34290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동박 두께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353312" y="36758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0.035 mm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9536" y="4197096"/>
            <a:ext cx="402336" cy="256032"/>
          </a:xfrm>
          <a:prstGeom prst="roundRect">
            <a:avLst>
              <a:gd name="adj" fmla="val 42857"/>
            </a:avLst>
          </a:prstGeom>
          <a:solidFill>
            <a:srgbClr val="6251D8"/>
          </a:solidFill>
          <a:ln w="12700">
            <a:solidFill>
              <a:srgbClr val="6251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419709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53312" y="41788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비유전율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353312" y="44256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" y="491032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426464" y="4864608"/>
            <a:ext cx="1161288" cy="256032"/>
          </a:xfrm>
          <a:prstGeom prst="roundRect">
            <a:avLst>
              <a:gd name="adj" fmla="val 42857"/>
            </a:avLst>
          </a:prstGeom>
          <a:solidFill>
            <a:srgbClr val="DDEAFE"/>
          </a:solidFill>
          <a:ln w="12700">
            <a:solidFill>
              <a:srgbClr val="DD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26464" y="486460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76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Microstrip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13533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251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PCB 단면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172968" y="1691640"/>
            <a:ext cx="4681728" cy="3584448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</p:spPr>
      </p:sp>
      <p:pic>
        <p:nvPicPr>
          <p:cNvPr id="29" name="Image 0" descr="C:\HBPARK\1-Works\Business\EMXAI\homepage\emxai-homepage\deliverables\z0-mcp-slides\assets\microstrip-cross-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1965960"/>
            <a:ext cx="4343400" cy="2487168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5074920" y="1837944"/>
            <a:ext cx="420624" cy="256032"/>
          </a:xfrm>
          <a:prstGeom prst="roundRect">
            <a:avLst>
              <a:gd name="adj" fmla="val 42857"/>
            </a:avLst>
          </a:prstGeom>
          <a:solidFill>
            <a:srgbClr val="1976F3"/>
          </a:solidFill>
          <a:ln w="12700">
            <a:solidFill>
              <a:srgbClr val="1976F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74920" y="183794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285232" y="2093976"/>
            <a:ext cx="0" cy="402336"/>
          </a:xfrm>
          <a:prstGeom prst="line">
            <a:avLst/>
          </a:prstGeom>
          <a:noFill/>
          <a:ln w="19050">
            <a:solidFill>
              <a:srgbClr val="1976F3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5870448" y="2093976"/>
            <a:ext cx="420624" cy="256032"/>
          </a:xfrm>
          <a:prstGeom prst="roundRect">
            <a:avLst>
              <a:gd name="adj" fmla="val 42857"/>
            </a:avLst>
          </a:prstGeom>
          <a:solidFill>
            <a:srgbClr val="C87536"/>
          </a:solidFill>
          <a:ln w="12700">
            <a:solidFill>
              <a:srgbClr val="C8753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70448" y="209397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568696" y="2350008"/>
            <a:ext cx="301752" cy="182880"/>
          </a:xfrm>
          <a:prstGeom prst="line">
            <a:avLst/>
          </a:prstGeom>
          <a:noFill/>
          <a:ln w="19050">
            <a:solidFill>
              <a:srgbClr val="C87536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3502152" y="3044952"/>
            <a:ext cx="420624" cy="256032"/>
          </a:xfrm>
          <a:prstGeom prst="roundRect">
            <a:avLst>
              <a:gd name="adj" fmla="val 42857"/>
            </a:avLst>
          </a:prstGeom>
          <a:solidFill>
            <a:srgbClr val="0F9FA8"/>
          </a:solidFill>
          <a:ln w="12700">
            <a:solidFill>
              <a:srgbClr val="0F9FA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502152" y="304495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922776" y="3172968"/>
            <a:ext cx="502920" cy="0"/>
          </a:xfrm>
          <a:prstGeom prst="line">
            <a:avLst/>
          </a:prstGeom>
          <a:noFill/>
          <a:ln w="19050">
            <a:solidFill>
              <a:srgbClr val="0F9FA8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7013448" y="3172968"/>
            <a:ext cx="502920" cy="256032"/>
          </a:xfrm>
          <a:prstGeom prst="roundRect">
            <a:avLst>
              <a:gd name="adj" fmla="val 42857"/>
            </a:avLst>
          </a:prstGeom>
          <a:solidFill>
            <a:srgbClr val="6251D8"/>
          </a:solidFill>
          <a:ln w="12700">
            <a:solidFill>
              <a:srgbClr val="6251D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013448" y="31729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Dk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419088" y="3300984"/>
            <a:ext cx="594360" cy="0"/>
          </a:xfrm>
          <a:prstGeom prst="line">
            <a:avLst/>
          </a:prstGeom>
          <a:noFill/>
          <a:ln w="19050">
            <a:solidFill>
              <a:srgbClr val="6251D8"/>
            </a:solidFill>
            <a:prstDash val="solid"/>
            <a:headEnd type="triangle"/>
          </a:ln>
        </p:spPr>
      </p:sp>
      <p:sp>
        <p:nvSpPr>
          <p:cNvPr id="42" name="Text 39"/>
          <p:cNvSpPr/>
          <p:nvPr/>
        </p:nvSpPr>
        <p:spPr>
          <a:xfrm>
            <a:off x="4718304" y="463600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75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신호선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486400" y="463600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76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유전체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254496" y="463600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75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GND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8247888" y="1353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A7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결과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119872" y="1691640"/>
            <a:ext cx="3401568" cy="3584448"/>
          </a:xfrm>
          <a:prstGeom prst="roundRect">
            <a:avLst>
              <a:gd name="adj" fmla="val 3226"/>
            </a:avLst>
          </a:prstGeom>
          <a:solidFill>
            <a:srgbClr val="F4FBF8"/>
          </a:solidFill>
          <a:ln w="12700">
            <a:solidFill>
              <a:srgbClr val="BEEAD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439912" y="1984248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특성임피던스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8412480" y="2267712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8A7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49.82 Ω</a:t>
            </a:r>
            <a:endParaRPr lang="en-US" sz="3200" dirty="0"/>
          </a:p>
        </p:txBody>
      </p:sp>
      <p:sp>
        <p:nvSpPr>
          <p:cNvPr id="49" name="Shape 46"/>
          <p:cNvSpPr/>
          <p:nvPr/>
        </p:nvSpPr>
        <p:spPr>
          <a:xfrm>
            <a:off x="9025128" y="2971800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18A76F"/>
          </a:solidFill>
          <a:ln w="12700">
            <a:solidFill>
              <a:srgbClr val="18A76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025128" y="29718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50 Ω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458200" y="3447288"/>
            <a:ext cx="2743200" cy="0"/>
          </a:xfrm>
          <a:prstGeom prst="line">
            <a:avLst/>
          </a:prstGeom>
          <a:noFill/>
          <a:ln w="12700">
            <a:solidFill>
              <a:srgbClr val="CBE8D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439912" y="366674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유전율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10177272" y="366674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3.18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8439912" y="40965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대비 오차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10177272" y="409651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A7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−0.36%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8439912" y="452628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9573768" y="4480560"/>
            <a:ext cx="1600200" cy="256032"/>
          </a:xfrm>
          <a:prstGeom prst="roundRect">
            <a:avLst>
              <a:gd name="adj" fmla="val 42857"/>
            </a:avLst>
          </a:prstGeom>
          <a:solidFill>
            <a:srgbClr val="DDF6EA"/>
          </a:solidFill>
          <a:ln w="12700">
            <a:solidFill>
              <a:srgbClr val="DDF6E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573768" y="44805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A7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범위 이내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658368" y="5596128"/>
            <a:ext cx="10863072" cy="640080"/>
          </a:xfrm>
          <a:prstGeom prst="roundRect">
            <a:avLst>
              <a:gd name="adj" fmla="val 17143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051560" y="576986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976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400" dirty="0"/>
          </a:p>
        </p:txBody>
      </p:sp>
      <p:sp>
        <p:nvSpPr>
          <p:cNvPr id="61" name="Text 58"/>
          <p:cNvSpPr/>
          <p:nvPr/>
        </p:nvSpPr>
        <p:spPr>
          <a:xfrm>
            <a:off x="1883664" y="5733288"/>
            <a:ext cx="9006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444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형상(W·H·T)과 재료(Dk)를 입력하면 동일한 계산식을 반복 호출해 Z0를 얻습니다.</a:t>
            </a:r>
            <a:endParaRPr lang="en-US" sz="1400" dirty="0"/>
          </a:p>
        </p:txBody>
      </p:sp>
      <p:sp>
        <p:nvSpPr>
          <p:cNvPr id="62" name="Text 59"/>
          <p:cNvSpPr/>
          <p:nvPr/>
        </p:nvSpPr>
        <p:spPr>
          <a:xfrm>
            <a:off x="11320272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7A84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5448" y="566928"/>
            <a:ext cx="91440" cy="7040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859536"/>
            <a:ext cx="11494008" cy="0"/>
          </a:xfrm>
          <a:prstGeom prst="line">
            <a:avLst/>
          </a:prstGeom>
          <a:noFill/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Z0 계산기를 MCP 도구로 연결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요청을 표준 도구 호출로 바꾸고, 계산 결과를 다시 설명하는 실습입니다.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13533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6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AI / 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70248" y="13533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251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MCP 도구 호출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91272" y="13533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A7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Z0 계산 엔진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1700784"/>
            <a:ext cx="2834640" cy="3456432"/>
          </a:xfrm>
          <a:prstGeom prst="roundRect">
            <a:avLst>
              <a:gd name="adj" fmla="val 3871"/>
            </a:avLst>
          </a:prstGeom>
          <a:solidFill>
            <a:srgbClr val="F3F8FF"/>
          </a:solidFill>
          <a:ln w="12700">
            <a:solidFill>
              <a:srgbClr val="9AC7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0248" y="1700784"/>
            <a:ext cx="2834640" cy="3456432"/>
          </a:xfrm>
          <a:prstGeom prst="roundRect">
            <a:avLst>
              <a:gd name="adj" fmla="val 3871"/>
            </a:avLst>
          </a:prstGeom>
          <a:solidFill>
            <a:srgbClr val="F5F2FF"/>
          </a:solidFill>
          <a:ln w="12700">
            <a:solidFill>
              <a:srgbClr val="B9AE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1272" y="1700784"/>
            <a:ext cx="3383280" cy="3456432"/>
          </a:xfrm>
          <a:prstGeom prst="roundRect">
            <a:avLst>
              <a:gd name="adj" fmla="val 3243"/>
            </a:avLst>
          </a:prstGeom>
          <a:solidFill>
            <a:srgbClr val="F4FBF8"/>
          </a:solidFill>
          <a:ln w="12700">
            <a:solidFill>
              <a:srgbClr val="A9E0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9312" y="3026664"/>
            <a:ext cx="475488" cy="384048"/>
          </a:xfrm>
          <a:prstGeom prst="chevron">
            <a:avLst/>
          </a:prstGeom>
          <a:solidFill>
            <a:srgbClr val="1976F3"/>
          </a:solidFill>
          <a:ln w="12700">
            <a:solidFill>
              <a:srgbClr val="1976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0336" y="3026664"/>
            <a:ext cx="475488" cy="384048"/>
          </a:xfrm>
          <a:prstGeom prst="chevron">
            <a:avLst/>
          </a:prstGeom>
          <a:solidFill>
            <a:srgbClr val="6251D8"/>
          </a:solidFill>
          <a:ln w="12700">
            <a:solidFill>
              <a:srgbClr val="6251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99032" y="1993392"/>
            <a:ext cx="1353312" cy="256032"/>
          </a:xfrm>
          <a:prstGeom prst="roundRect">
            <a:avLst>
              <a:gd name="adj" fmla="val 42857"/>
            </a:avLst>
          </a:prstGeom>
          <a:solidFill>
            <a:srgbClr val="1976F3"/>
          </a:solidFill>
          <a:ln w="12700">
            <a:solidFill>
              <a:srgbClr val="1976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99032" y="199339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요청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" y="2487168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“50 Ω가 되도록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선폭을 계산해줘”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50976" y="4005072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목표를 말하면 됩니다.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공식이나 함수명은 외울 필요가 없습니다.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74336" y="1993392"/>
            <a:ext cx="1426464" cy="256032"/>
          </a:xfrm>
          <a:prstGeom prst="roundRect">
            <a:avLst>
              <a:gd name="adj" fmla="val 42857"/>
            </a:avLst>
          </a:prstGeom>
          <a:solidFill>
            <a:srgbClr val="6251D8"/>
          </a:solidFill>
          <a:ln w="12700">
            <a:solidFill>
              <a:srgbClr val="6251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199339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solve_width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08576" y="246888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251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입력(JSON)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99432" y="2752344"/>
            <a:ext cx="2176272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AD4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862072"/>
            <a:ext cx="18562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B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B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"structure": "microstrip",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B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"h_mm": 0.18,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B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"t_mm": 0.035,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B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"er": 4.2,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B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"target_z0": 50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B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36008" y="4599432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MCP가 요청 형식을 통일합니다.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869680" y="1993392"/>
            <a:ext cx="1444752" cy="256032"/>
          </a:xfrm>
          <a:prstGeom prst="roundRect">
            <a:avLst>
              <a:gd name="adj" fmla="val 42857"/>
            </a:avLst>
          </a:prstGeom>
          <a:solidFill>
            <a:srgbClr val="18A76F"/>
          </a:solidFill>
          <a:ln w="12700">
            <a:solidFill>
              <a:srgbClr val="18A7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199339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결정론적 계산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93608" y="251460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선폭 W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57032" y="280720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A7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0.298 mm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8357616" y="3474720"/>
            <a:ext cx="2450592" cy="0"/>
          </a:xfrm>
          <a:prstGeom prst="line">
            <a:avLst/>
          </a:prstGeom>
          <a:noFill/>
          <a:ln w="12700">
            <a:solidFill>
              <a:srgbClr val="CBE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9328" y="3730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Z0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47504" y="373075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50.00 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39328" y="41056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47504" y="410565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A7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0.003 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33688" y="4599432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DDF6EA"/>
          </a:solidFill>
          <a:ln w="12700">
            <a:solidFill>
              <a:srgbClr val="DDF6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33688" y="45994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A7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+ 설명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5528" y="540410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실습에서 사용할 3개 도구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712464" y="5321808"/>
            <a:ext cx="2176272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539496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976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calc_z0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840480" y="5632704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구조의 Z0 계산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99048" y="5321808"/>
            <a:ext cx="2176272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27064" y="539496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251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solve_width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27064" y="5632704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Z0의 선폭 역산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485632" y="5321808"/>
            <a:ext cx="2176272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13648" y="539496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A7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sweep_z0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613648" y="5632704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5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변화 비교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58368" y="6007608"/>
            <a:ext cx="10863072" cy="438912"/>
          </a:xfrm>
          <a:prstGeom prst="roundRect">
            <a:avLst>
              <a:gd name="adj" fmla="val 25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1560" y="610819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76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883664" y="6080760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444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값을 추측하지 않고 MCP를 통해 검증된 Z0 계산 엔진을 호출합니다.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11320272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7A84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EMxAI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Z0 계산기와 MCP 연결</dc:title>
  <dc:subject>Z0 calculator and MCP training</dc:subject>
  <dc:creator>EMxAI</dc:creator>
  <cp:lastModifiedBy>EMxAI</cp:lastModifiedBy>
  <cp:revision>1</cp:revision>
  <dcterms:created xsi:type="dcterms:W3CDTF">2026-09-09T23:36:35Z</dcterms:created>
  <dcterms:modified xsi:type="dcterms:W3CDTF">2026-09-09T23:36:35Z</dcterms:modified>
</cp:coreProperties>
</file>